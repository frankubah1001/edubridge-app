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85455" y="0"/>
            <a:ext cx="4206240" cy="6858000"/>
          </a:xfrm>
          <a:prstGeom prst="rect">
            <a:avLst/>
          </a:prstGeom>
          <a:solidFill>
            <a:srgbClr val="07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85455" y="0"/>
            <a:ext cx="36576" cy="685800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05156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A86B"/>
                </a:solidFill>
                <a:latin typeface="Helvetica Neue"/>
              </a:rPr>
              <a:t>EDUBRIDGE AI  ·  PRODUCT PITCH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17904"/>
            <a:ext cx="6766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Helvetica Neue"/>
              </a:rPr>
              <a:t>Offline-first learning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FFC107"/>
                </a:solidFill>
                <a:latin typeface="Helvetica Neue"/>
              </a:rPr>
              <a:t>for every Nigerian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6309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C7D3E0"/>
                </a:solidFill>
                <a:latin typeface="Helvetica Neue"/>
              </a:rPr>
              <a:t>WAEC · NECO · JAMB aligned. Works on 2G, syncs when the network returns, and adapts to each learner's ability — with a free core that never locks a student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77316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FC107"/>
                </a:solidFill>
                <a:latin typeface="Helvetica Neue"/>
              </a:rPr>
              <a:t>499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19379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Helvetica Neue"/>
              </a:rPr>
              <a:t>QUESTION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477316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FC107"/>
                </a:solidFill>
                <a:latin typeface="Helvetica Neue"/>
              </a:rPr>
              <a:t>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6312" y="519379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Helvetica Neue"/>
              </a:rPr>
              <a:t>SUBJECTS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3944" y="477316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FC107"/>
                </a:solidFill>
                <a:latin typeface="Helvetica Neue"/>
              </a:rPr>
              <a:t>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3944" y="519379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Helvetica Neue"/>
              </a:rPr>
              <a:t>TOPICS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51576" y="4773168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FFC107"/>
                </a:solidFill>
                <a:latin typeface="Helvetica Neue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51576" y="5193792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94A3B8"/>
                </a:solidFill>
                <a:latin typeface="Helvetica Neue"/>
              </a:rPr>
              <a:t>LEVELS</a:t>
            </a:r>
          </a:p>
        </p:txBody>
      </p:sp>
      <p:pic>
        <p:nvPicPr>
          <p:cNvPr id="17" name="Picture 16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935" y="1943100"/>
            <a:ext cx="3429000" cy="274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96935" y="5577840"/>
            <a:ext cx="342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Helvetica Neue"/>
              </a:rPr>
              <a:t>Live product  ·  EduBridge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Helvetica Neue"/>
              </a:rPr>
              <a:t>Nigeria's learners are online only on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Helvetica Neue"/>
              </a:rPr>
              <a:t>Bandwidth cost, power intermittency and exam-prep quality make 'just put it online'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3036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39112"/>
            <a:ext cx="50292" cy="12984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" y="2020824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E293B"/>
                </a:solidFill>
                <a:latin typeface="Helvetica Neue"/>
              </a:rPr>
              <a:t>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57400"/>
            <a:ext cx="4041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0A2540"/>
                </a:solidFill>
                <a:latin typeface="Helvetica Neue"/>
              </a:rPr>
              <a:t>Data is expensive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441448"/>
            <a:ext cx="40416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A student streaming lessons burns more money than the phone costs. Preloaded data is limited and metered.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783080"/>
            <a:ext cx="523036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7064" y="2039112"/>
            <a:ext cx="50292" cy="12984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020824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E293B"/>
                </a:solidFill>
                <a:latin typeface="Helvetica Neue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2057400"/>
            <a:ext cx="4041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0A2540"/>
                </a:solidFill>
                <a:latin typeface="Helvetica Neue"/>
              </a:rPr>
              <a:t>Power is unreliable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2441448"/>
            <a:ext cx="40416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Lessons must survive a blackout mid-question and sync later, without losing a single attempt.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67912"/>
            <a:ext cx="523036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23944"/>
            <a:ext cx="50292" cy="12984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41056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E293B"/>
                </a:solidFill>
                <a:latin typeface="Helvetica Neue"/>
              </a:rPr>
              <a:t>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142232"/>
            <a:ext cx="4041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0A2540"/>
                </a:solidFill>
                <a:latin typeface="Helvetica Neue"/>
              </a:rPr>
              <a:t>One-size-fits-all prep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26280"/>
            <a:ext cx="40416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Past questions are dumped as PDFs. Nobody tells a learner which topic is actually costing them marks.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3867912"/>
            <a:ext cx="5230368" cy="18105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27064" y="4123944"/>
            <a:ext cx="50292" cy="12984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1056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>
                <a:solidFill>
                  <a:srgbClr val="1E293B"/>
                </a:solidFill>
                <a:latin typeface="Helvetica Neue"/>
              </a:rPr>
              <a:t>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4142232"/>
            <a:ext cx="40416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1">
                <a:solidFill>
                  <a:srgbClr val="0A2540"/>
                </a:solidFill>
                <a:latin typeface="Helvetica Neue"/>
              </a:rPr>
              <a:t>Paywalls exclude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4526280"/>
            <a:ext cx="40416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Paid-only study apps lock out the students who need them most. A scholarship pool should cover them.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51967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EduBridge AI  ·  Offline-first learning for Nigeria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519672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C107"/>
                </a:solidFill>
                <a:latin typeface="Helvetica Neue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Helvetica Neue"/>
              </a:rPr>
              <a:t>EduBridge AI — one PWA, three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Helvetica Neue"/>
              </a:rPr>
              <a:t>Offline-first by architecture, adaptive by measurement, and free at the core.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67208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4864" cy="1207008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0A86B"/>
                </a:solidFill>
                <a:latin typeface="Helvetica Neue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02536"/>
            <a:ext cx="5669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Helvetica Neue"/>
              </a:rPr>
              <a:t>Works offline, always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359152"/>
            <a:ext cx="5623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Service worker precache + IndexedDB + delta-sync queue. Every attempt, XP event and message queues locally and reconciles on reconnect.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72968"/>
            <a:ext cx="67208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172968"/>
            <a:ext cx="54864" cy="1207008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44728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0A86B"/>
                </a:solidFill>
                <a:latin typeface="Helvetica Neue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92424"/>
            <a:ext cx="5669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Helvetica Neue"/>
              </a:rPr>
              <a:t>Adapts to the learner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749040"/>
            <a:ext cx="5623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A real IRT engine estimates ability (theta) from every answer and drives mastery bars, weak-topic detection and a spaced-repetition study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62856"/>
            <a:ext cx="67208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562856"/>
            <a:ext cx="54864" cy="1207008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37176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00A86B"/>
                </a:solidFill>
                <a:latin typeface="Helvetica Neue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4782312"/>
            <a:ext cx="5669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0A2540"/>
                </a:solidFill>
                <a:latin typeface="Helvetica Neue"/>
              </a:rPr>
              <a:t>Free core, fair monetisation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138928"/>
            <a:ext cx="5623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64748B"/>
                </a:solidFill>
                <a:latin typeface="Helvetica Neue"/>
              </a:rPr>
              <a:t>Courses, CBT mocks and a daily AI tutor stay free. Paystack/Flutterwave, vouchers and a scholarship pool monetise schools without excluding pupils.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59" y="1691640"/>
            <a:ext cx="3886200" cy="406907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208275"/>
            <a:ext cx="3794760" cy="3035808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51967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EduBridge AI  ·  Offline-first learning for Nigeria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519672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C107"/>
                </a:solidFill>
                <a:latin typeface="Helvetica Neue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PRODUCT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Helvetica Neue"/>
              </a:rPr>
              <a:t>One app, the full exam-prep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Helvetica Neue"/>
              </a:rPr>
              <a:t>Diagnose → learn → practise → adapt → prove.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4787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02" y="1783080"/>
            <a:ext cx="2516428" cy="1572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429000"/>
            <a:ext cx="3456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Adaptive diagnostics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85032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IRT ability estimate + weak-topic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354787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-cour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92" y="1783080"/>
            <a:ext cx="2467087" cy="1572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89120" y="3429000"/>
            <a:ext cx="3456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Course catalogue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685032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WAEC / NECO / JAMB mapped, offline bundles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54787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-qui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700" y="1783080"/>
            <a:ext cx="2411912" cy="15727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2440" y="3429000"/>
            <a:ext cx="3456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Timed CBT mock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685032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Auto-grading, shuffle, timer, tab-blur flag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78808"/>
            <a:ext cx="354787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5-ai-tu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802" y="4224528"/>
            <a:ext cx="2516428" cy="15727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" y="5870448"/>
            <a:ext cx="3456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AI tutor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12648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Offline rule-based answers, 60 msgs/day on 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4178808"/>
            <a:ext cx="354787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7-pla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9122" y="4224528"/>
            <a:ext cx="2516428" cy="15727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389120" y="5870448"/>
            <a:ext cx="3456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Study planner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612648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Spaced repetition around each learner's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78808"/>
            <a:ext cx="354787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-leader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2442" y="4224528"/>
            <a:ext cx="2516428" cy="15727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92440" y="5870448"/>
            <a:ext cx="3456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Gamification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6126480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XP, streaks, badges, ranks, daily challenge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51967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EduBridge AI  ·  Offline-first learning for Nigeria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28655" y="6519672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C107"/>
                </a:solidFill>
                <a:latin typeface="Helvetica Neue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Helvetica Neue"/>
              </a:rPr>
              <a:t>Deploy on a school server today. Scale tomorrow.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Helvetica Neue"/>
              </a:rPr>
              <a:t>Zero build step: PHP 8 + MySQL on Apache. No npm, no bundler, no lock-in.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7040880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4864" cy="932688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29384"/>
            <a:ext cx="6583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CLIENT  ·  PWA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03704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Vanilla SPA shell · IndexedDB (courses, quiz, queue) · Service worker precache · Offline bundles · Low-data mode · TTS · i18n (EN/HA/YO/IG/Pidgin)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62072"/>
            <a:ext cx="7040880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862072"/>
            <a:ext cx="54864" cy="93268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08376"/>
            <a:ext cx="6583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API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82696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TLS · rate limiting · router · session + JWT · RBAC (student / teacher / parent / school_admin / admin)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41064"/>
            <a:ext cx="7040880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41064"/>
            <a:ext cx="54864" cy="9326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87368"/>
            <a:ext cx="6583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Helvetica Neue"/>
              </a:rPr>
              <a:t>BACKEND SERVICES  ·  PHP APIs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6168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A Diagnostic &amp; Sync  ·  B IRT Assessment  ·  C Mentorship &amp; Chat  ·  D AI Tutor &amp; Planner  ·  E Content &amp; Live  ·  F Engagement  ·  G Payments &amp; Enrollment  ·  H Analytics &amp; Safety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020056"/>
            <a:ext cx="7040880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5020056"/>
            <a:ext cx="54864" cy="93268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6583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A2540"/>
                </a:solidFill>
                <a:latin typeface="Helvetica Neue"/>
              </a:rPr>
              <a:t>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4068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MySQL (users, courses, attempts, xp) · JSON seed bundles · IndexedDB mirror · Redis (later) · R2/S3 media · notification queue (mail / SMS / USSD)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1737360"/>
            <a:ext cx="3429000" cy="3977639"/>
          </a:xfrm>
          <a:prstGeom prst="roundRect">
            <a:avLst>
              <a:gd name="adj" fmla="val 5500"/>
            </a:avLst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198424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A86B"/>
                </a:solidFill>
                <a:latin typeface="Helvetica Neue"/>
              </a:rPr>
              <a:t>12 SUBSYSTEMS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350008"/>
            <a:ext cx="29260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LMS Core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Question Bank &amp; CBT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Adaptive IRT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AI Tutor / Planner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Gamification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Live Class &amp; Mentorship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Community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Authoring Studio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Analytics (4 roles)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Offline &amp; Low-data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Payments &amp; Scholarships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FFC107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C7D3E0"/>
                </a:solidFill>
                <a:latin typeface="Helvetica Neue"/>
              </a:rPr>
              <a:t>Safety &amp;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51967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EduBridge AI  ·  Offline-first learning for Nigeria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519672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C107"/>
                </a:solidFill>
                <a:latin typeface="Helvetica Neue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Helvetica Neue"/>
              </a:rPr>
              <a:t>Offline-first is not a feature — it is the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Helvetica Neue"/>
              </a:rPr>
              <a:t>Most apps are online with an offline screen. EduBridge is offline with an online sync.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21208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-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63" y="1783080"/>
            <a:ext cx="4992914" cy="3931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63640" y="1874520"/>
            <a:ext cx="5257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350" b="1">
                <a:solidFill>
                  <a:srgbClr val="0A2540"/>
                </a:solidFill>
                <a:latin typeface="Helvetica Neue"/>
              </a:rPr>
              <a:t>Precache the shell</a:t>
            </a:r>
            <a:r>
              <a:rPr sz="1350">
                <a:solidFill>
                  <a:srgbClr val="1E293B"/>
                </a:solidFill>
                <a:latin typeface="Helvetica Neue"/>
              </a:rPr>
              <a:t>  Service worker keeps the app instant and available with zero network.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350" b="1">
                <a:solidFill>
                  <a:srgbClr val="0A2540"/>
                </a:solidFill>
                <a:latin typeface="Helvetica Neue"/>
              </a:rPr>
              <a:t>Local-first writes</a:t>
            </a:r>
            <a:r>
              <a:rPr sz="1350">
                <a:solidFill>
                  <a:srgbClr val="1E293B"/>
                </a:solidFill>
                <a:latin typeface="Helvetica Neue"/>
              </a:rPr>
              <a:t>  Attempts, XP, messages and mentor chats land in IndexedDB immediately.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350" b="1">
                <a:solidFill>
                  <a:srgbClr val="0A2540"/>
                </a:solidFill>
                <a:latin typeface="Helvetica Neue"/>
              </a:rPr>
              <a:t>Delta-sync queue</a:t>
            </a:r>
            <a:r>
              <a:rPr sz="1350">
                <a:solidFill>
                  <a:srgbClr val="1E293B"/>
                </a:solidFill>
                <a:latin typeface="Helvetica Neue"/>
              </a:rPr>
              <a:t>  Every mutation is queued with an op + payload and replayed on reconnect — idempotently.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350" b="1">
                <a:solidFill>
                  <a:srgbClr val="0A2540"/>
                </a:solidFill>
                <a:latin typeface="Helvetica Neue"/>
              </a:rPr>
              <a:t>Low-data mode</a:t>
            </a:r>
            <a:r>
              <a:rPr sz="1350">
                <a:solidFill>
                  <a:srgbClr val="1E293B"/>
                </a:solidFill>
                <a:latin typeface="Helvetica Neue"/>
              </a:rPr>
              <a:t>  Learners choose a byte budget; bundles download once over WiFi and never again.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3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350" b="1">
                <a:solidFill>
                  <a:srgbClr val="0A2540"/>
                </a:solidFill>
                <a:latin typeface="Helvetica Neue"/>
              </a:rPr>
              <a:t>Offline bundle downloader</a:t>
            </a:r>
            <a:r>
              <a:rPr sz="1350">
                <a:solidFill>
                  <a:srgbClr val="1E293B"/>
                </a:solidFill>
                <a:latin typeface="Helvetica Neue"/>
              </a:rPr>
              <a:t>  Courses, questions and media cached per subject for true 2G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651967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EduBridge AI  ·  Offline-first learning for Nigeria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19672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C107"/>
                </a:solidFill>
                <a:latin typeface="Helvetica Neue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OPERATOR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Helvetica Neue"/>
              </a:rPr>
              <a:t>A standalone staff console ships with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Helvetica Neue"/>
              </a:rPr>
              <a:t>Content, moderation, commerce and people — with its own session namespace and audit trail.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492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-admin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05" y="1783080"/>
            <a:ext cx="3356789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55080" y="1783080"/>
            <a:ext cx="5166360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45720" cy="8412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11096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0370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Subjects, topics, courses, lessons, question bank, exam papers, moderation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734056"/>
            <a:ext cx="5166360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34056"/>
            <a:ext cx="45720" cy="8412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2862072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Commerce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154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Plans &amp; pricing, vouchers, bulk enrolment, school licenses, 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685032"/>
            <a:ext cx="5166360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685032"/>
            <a:ext cx="45720" cy="8412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813048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People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105656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Users &amp; roles, schools, mentors, guardians and parent links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636008"/>
            <a:ext cx="5166360" cy="8412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636008"/>
            <a:ext cx="45720" cy="8412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764024"/>
            <a:ext cx="4663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A2540"/>
                </a:solidFill>
                <a:latin typeface="Helvetica Neue"/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505663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Feature flags, branding, settings — and live audit logging of every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632704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00A86B"/>
                </a:solidFill>
                <a:latin typeface="Helvetica Neue"/>
              </a:rPr>
              <a:t>Separate session namespace · bcrypt auth · brute-force lockout · every action audited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51967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EduBridge AI  ·  Offline-first learning for Nigeria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519672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C107"/>
                </a:solidFill>
                <a:latin typeface="Helvetica Neue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Helvetica Neue"/>
              </a:rPr>
              <a:t>Free core, monetised at the edges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Helvetica Neue"/>
              </a:rPr>
              <a:t>The free tier is the growth engine; schools and power users fund the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47672"/>
            <a:ext cx="2670048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20370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A2540"/>
                </a:solidFill>
                <a:latin typeface="Helvetica Neue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551176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Arial"/>
              </a:rPr>
              <a:t>₦0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063240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forever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447288"/>
            <a:ext cx="22128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Courses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CBT mocks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AI tutor (daily limit)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Offline bundles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947672"/>
            <a:ext cx="2670048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4" y="220370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A2540"/>
                </a:solidFill>
                <a:latin typeface="Helvetica Neue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2551176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Arial"/>
              </a:rPr>
              <a:t>₦500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3063240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per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3447288"/>
            <a:ext cx="22128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Everything in Free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60 AI messages/day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Study planner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Forum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947672"/>
            <a:ext cx="2670048" cy="3611880"/>
          </a:xfrm>
          <a:prstGeom prst="roundRect">
            <a:avLst>
              <a:gd name="adj" fmla="val 5500"/>
            </a:avLst>
          </a:prstGeom>
          <a:solidFill>
            <a:srgbClr val="EAFAF2"/>
          </a:solidFill>
          <a:ln w="9525">
            <a:solidFill>
              <a:srgbClr val="00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947672"/>
            <a:ext cx="2670048" cy="4572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92824" y="2093976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00A86B"/>
                </a:solidFill>
                <a:latin typeface="Helvetica Neue"/>
              </a:rPr>
              <a:t>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2824" y="238658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A2540"/>
                </a:solidFill>
                <a:latin typeface="Helvetica Neue"/>
              </a:rPr>
              <a:t>Pro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2715768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Arial"/>
              </a:rPr>
              <a:t>₦1,500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2824" y="3227832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per 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2824" y="3611880"/>
            <a:ext cx="22128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Unlimited AI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Adaptive plans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Verified mentors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Certificates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Parent SMS · No ads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947672"/>
            <a:ext cx="2670048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7464" y="2203704"/>
            <a:ext cx="22128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1">
                <a:solidFill>
                  <a:srgbClr val="0A2540"/>
                </a:solidFill>
                <a:latin typeface="Helvetica Neue"/>
              </a:rPr>
              <a:t>School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7464" y="2551176"/>
            <a:ext cx="221284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Arial"/>
              </a:rPr>
              <a:t>Custom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27464" y="3063240"/>
            <a:ext cx="22128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contact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3447288"/>
            <a:ext cx="2212848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Teacher studio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Class analytics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Bulk vouchers</a:t>
            </a:r>
          </a:p>
          <a:p>
            <a:pPr>
              <a:lnSpc>
                <a:spcPct val="120000"/>
              </a:lnSpc>
              <a:spcAft>
                <a:spcPts val="700"/>
              </a:spcAft>
            </a:pPr>
            <a:r>
              <a:rPr sz="1150" b="1">
                <a:solidFill>
                  <a:srgbClr val="94A3B8"/>
                </a:solidFill>
                <a:latin typeface="Helvetica Neue"/>
              </a:rPr>
              <a:t>▪  </a:t>
            </a:r>
            <a:r>
              <a:rPr sz="1150" b="0">
                <a:solidFill>
                  <a:srgbClr val="1E293B"/>
                </a:solidFill>
                <a:latin typeface="Helvetica Neue"/>
              </a:rPr>
              <a:t>Scholarships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1500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Payments: Paystack / Flutterwave + bank transfer + vouchers.  No learner is locked out — the scholarship pool covers indigent students.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51967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EduBridge AI  ·  Offline-first learning for Nigeria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519672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C107"/>
                </a:solidFill>
                <a:latin typeface="Helvetica Neue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00A86B"/>
                </a:solidFill>
                <a:latin typeface="Helvetica Neue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49808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A2540"/>
                </a:solidFill>
                <a:latin typeface="Helvetica Neue"/>
              </a:rPr>
              <a:t>Eight weeks to a two-school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0">
                <a:solidFill>
                  <a:srgbClr val="64748B"/>
                </a:solidFill>
                <a:latin typeface="Helvetica Neue"/>
              </a:rPr>
              <a:t>P0 is shipped. The next two pushes close the loop from 'good app' to 'institutional product'.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0A86B"/>
                </a:solidFill>
                <a:latin typeface="Helvetica Neue"/>
              </a:rPr>
              <a:t>Wk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929384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Helvetica Neue"/>
              </a:rPr>
              <a:t>P0 polish + seed 500 real past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240280"/>
            <a:ext cx="9052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Harden the 499-question bank with authentic WAEC/NECO/JAMB items and tighten the IRT calibration.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07208"/>
            <a:ext cx="1083564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807208"/>
            <a:ext cx="54864" cy="91440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081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C107"/>
                </a:solidFill>
                <a:latin typeface="Helvetica Neue"/>
              </a:rPr>
              <a:t>Wk 3–4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953512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Helvetica Neue"/>
              </a:rPr>
              <a:t>Live classes + payments sandbox + i18n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264408"/>
            <a:ext cx="9052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WebRTC/Jitsi live classes with attendance, Paystack sandbox checkout, and a Hausa/Yoruba/Igbo/Pidgin toggle.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31336"/>
            <a:ext cx="1083564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31336"/>
            <a:ext cx="54864" cy="9144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056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A2540"/>
                </a:solidFill>
                <a:latin typeface="Helvetica Neue"/>
              </a:rPr>
              <a:t>Wk 5–6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977640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Helvetica Neue"/>
              </a:rPr>
              <a:t>Authoring studio + deep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288536"/>
            <a:ext cx="9052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Teacher course authoring with lesson drafts, plus per-role analytics dashboards and an at-risk churn predictor.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55464"/>
            <a:ext cx="1083564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855464"/>
            <a:ext cx="54864" cy="9144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297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0A2540"/>
                </a:solidFill>
                <a:latin typeface="Helvetica Neue"/>
              </a:rPr>
              <a:t>Wk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001768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A2540"/>
                </a:solidFill>
                <a:latin typeface="Helvetica Neue"/>
              </a:rPr>
              <a:t>Pilot in 2 schools + hardening + NDPR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312664"/>
            <a:ext cx="90525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Supervised rollout, consent and data-protection audit, offline soak tests on real 2G, and certificate delivery.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6519672"/>
            <a:ext cx="8229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94A3B8"/>
                </a:solidFill>
                <a:latin typeface="Helvetica Neue"/>
              </a:rPr>
              <a:t>EduBridge AI  ·  Offline-first learning for Nigeria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519672"/>
            <a:ext cx="777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FC107"/>
                </a:solidFill>
                <a:latin typeface="Helvetica Neue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0A86B"/>
                </a:solidFill>
                <a:latin typeface="Helvetica Neue"/>
              </a:rPr>
              <a:t>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98448"/>
            <a:ext cx="10424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Helvetica Neue"/>
              </a:rPr>
              <a:t>Put every Nigerian learner's exam prep
in their pocket — for free, offline.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136392"/>
            <a:ext cx="50292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306324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C107"/>
                </a:solidFill>
                <a:latin typeface="Helvetica Neue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90672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C7D3E0"/>
                </a:solidFill>
                <a:latin typeface="Helvetica Neue"/>
              </a:rPr>
              <a:t>Two schools, 8-week supervised rollout with offline soak testing on real 2G.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849624"/>
            <a:ext cx="50292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776472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C107"/>
                </a:solidFill>
                <a:latin typeface="Helvetica Neue"/>
              </a:rPr>
              <a:t>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803904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C7D3E0"/>
                </a:solidFill>
                <a:latin typeface="Helvetica Neue"/>
              </a:rPr>
              <a:t>Access to authentic WAEC/NECO/JAMB past papers to seed the bank past 500 items.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562856"/>
            <a:ext cx="50292" cy="38404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489704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C107"/>
                </a:solidFill>
                <a:latin typeface="Helvetica Neue"/>
              </a:rPr>
              <a:t>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517136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C7D3E0"/>
                </a:solidFill>
                <a:latin typeface="Helvetica Neue"/>
              </a:rPr>
              <a:t>Payment rails (Paystack/Flutterwave) and SMS gateways for parent digests.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577840"/>
            <a:ext cx="10469880" cy="1828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8064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🌉  EduBridge AI  ·  Learn anywhere. Even offline.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5375" y="58064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94A3B8"/>
                </a:solidFill>
                <a:latin typeface="Helvetica Neue"/>
              </a:rPr>
              <a:t>http://localhost/EduBridge/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